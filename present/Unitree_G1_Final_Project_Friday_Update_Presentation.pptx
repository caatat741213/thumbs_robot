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ree_g1_gesture_learning_propo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543800" y="201168"/>
            <a:ext cx="3977639" cy="38404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99248" y="29260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FRIDAY UPDATE • refined from David's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6053328"/>
            <a:ext cx="3749039" cy="31089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144768"/>
            <a:ext cx="352044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0">
                <a:solidFill>
                  <a:srgbClr val="C6E6F5"/>
                </a:solidFill>
                <a:latin typeface="Aptos"/>
              </a:rPr>
              <a:t>Team: Emmanuel • Liggia • Cemil • Chao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6510528"/>
            <a:ext cx="11521440" cy="21945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1064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C6E6F5"/>
                </a:solidFill>
                <a:latin typeface="Aptos"/>
              </a:rPr>
              <a:t>CSCN8020 Final Project • Unitree G1 • Three target gestures in MuJoCo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64592"/>
            <a:ext cx="2743200" cy="31089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205740"/>
            <a:ext cx="263347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DFFF"/>
                </a:solidFill>
                <a:latin typeface="Aptos"/>
              </a:rPr>
              <a:t>SLIDE 2 — MATH / ALGORITHM /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5F7FA"/>
                </a:solidFill>
                <a:latin typeface="Aptos"/>
              </a:rPr>
              <a:t>Math → Algorithm → Code Mapping for PPO / Actor-Critic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9601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C6E6F5"/>
                </a:solidFill>
                <a:latin typeface="Aptos"/>
              </a:rPr>
              <a:t>The exact bridge David asked us to show during the next presentation.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207008"/>
            <a:ext cx="2221992" cy="0"/>
          </a:xfrm>
          <a:prstGeom prst="line">
            <a:avLst/>
          </a:prstGeom>
          <a:ln w="1778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" y="1463040"/>
            <a:ext cx="2743200" cy="196596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2331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00DFFF"/>
                </a:solidFill>
                <a:latin typeface="Aptos"/>
              </a:rPr>
              <a:t>Core equations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38528"/>
            <a:ext cx="2331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Aptos"/>
              </a:rPr>
              <a:t>sₜ = [qₜ, q̇ₜ, q_target(g),
q_target(g)-qₜ, one_hot(g), aₜ₋₁]
yₜ = rₜ + γ(1-dₜ)Vϕ(sₜ₊₁)
Âₜ = GAE(δₜ, γ, λ)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Current
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sₜ / 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state vector +
target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45152" y="2176272"/>
            <a:ext cx="137160" cy="0"/>
          </a:xfrm>
          <a:prstGeom prst="line">
            <a:avLst/>
          </a:prstGeom>
          <a:ln w="2540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82312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Actor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7176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πθ(a|s)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7176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mu, std,
action_dist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98464" y="2176272"/>
            <a:ext cx="137160" cy="0"/>
          </a:xfrm>
          <a:prstGeom prst="line">
            <a:avLst/>
          </a:prstGeom>
          <a:ln w="2540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35624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0488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Selected
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aₜ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0488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sample → scale /
clip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51775" y="2176272"/>
            <a:ext cx="137161" cy="0"/>
          </a:xfrm>
          <a:prstGeom prst="line">
            <a:avLst/>
          </a:prstGeom>
          <a:ln w="2540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800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Environmen
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rₜ, sₜ₊₁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reward +
next_state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5088" y="2176272"/>
            <a:ext cx="137160" cy="0"/>
          </a:xfrm>
          <a:prstGeom prst="line">
            <a:avLst/>
          </a:prstGeom>
          <a:ln w="2540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842248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7112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Critic /
target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7112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Vϕ, yₜ, Âₜ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7112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value, td_target,
adv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058400" y="2176272"/>
            <a:ext cx="137160" cy="0"/>
          </a:xfrm>
          <a:prstGeom prst="line">
            <a:avLst/>
          </a:prstGeom>
          <a:ln w="2540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195560" y="1572768"/>
            <a:ext cx="1216152" cy="12070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0424" y="1664208"/>
            <a:ext cx="1106424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00DFFF"/>
                </a:solidFill>
                <a:latin typeface="Aptos"/>
              </a:rPr>
              <a:t>PPO update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50424" y="2011680"/>
            <a:ext cx="1106424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50" b="1">
                <a:solidFill>
                  <a:srgbClr val="F5F7FA"/>
                </a:solidFill>
                <a:latin typeface="Aptos"/>
              </a:rPr>
              <a:t>losses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0424" y="2331720"/>
            <a:ext cx="110642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19" b="0">
                <a:solidFill>
                  <a:srgbClr val="C6E6F5"/>
                </a:solidFill>
                <a:latin typeface="Aptos"/>
              </a:rPr>
              <a:t>actor / critic /
entropy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79" y="2880360"/>
            <a:ext cx="3749039" cy="438912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3DD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38160" y="2971800"/>
            <a:ext cx="3383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30" b="0">
                <a:solidFill>
                  <a:srgbClr val="F5F7FA"/>
                </a:solidFill>
                <a:latin typeface="Aptos"/>
              </a:rPr>
              <a:t>Why PPO here? Continuous actions fit coordinated wrist-and-finger control better than discrete DQN actions.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611880"/>
            <a:ext cx="11292840" cy="257860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44805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DFFF"/>
                </a:solidFill>
                <a:latin typeface="Aptos"/>
              </a:rPr>
              <a:t>What we will visibly show in the presentation and logs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4041648"/>
            <a:ext cx="1920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30" b="1">
                <a:solidFill>
                  <a:srgbClr val="00DFFF"/>
                </a:solidFill>
                <a:latin typeface="Aptos"/>
              </a:rPr>
              <a:t>Math concept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4041648"/>
            <a:ext cx="2468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30" b="1">
                <a:solidFill>
                  <a:srgbClr val="00DFFF"/>
                </a:solidFill>
                <a:latin typeface="Aptos"/>
              </a:rPr>
              <a:t>Algorithm step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720" y="4041648"/>
            <a:ext cx="2651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30" b="1">
                <a:solidFill>
                  <a:srgbClr val="00DFFF"/>
                </a:solidFill>
                <a:latin typeface="Aptos"/>
              </a:rPr>
              <a:t>Code variable / function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2520" y="4041648"/>
            <a:ext cx="2514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30" b="1">
                <a:solidFill>
                  <a:srgbClr val="00DFFF"/>
                </a:solidFill>
                <a:latin typeface="Aptos"/>
              </a:rPr>
              <a:t>Visible evidence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" y="4352544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Current state sₜ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52544"/>
            <a:ext cx="2468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env._get_obs()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20" y="4352544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obs / state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32520" y="4352544"/>
            <a:ext cx="2514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print normalized state + target ID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4626864"/>
            <a:ext cx="10808208" cy="0"/>
          </a:xfrm>
          <a:prstGeom prst="line">
            <a:avLst/>
          </a:prstGeom>
          <a:ln w="8890">
            <a:solidFill>
              <a:srgbClr val="375F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13232" y="4663440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Actor policy πθ(a|s)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4663440"/>
            <a:ext cx="2468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actor(obs)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4663440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action_dist, mu, std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32520" y="4663440"/>
            <a:ext cx="2514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print mean / std / sampled action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67512" y="4937759"/>
            <a:ext cx="10808208" cy="0"/>
          </a:xfrm>
          <a:prstGeom prst="line">
            <a:avLst/>
          </a:prstGeom>
          <a:ln w="8890">
            <a:solidFill>
              <a:srgbClr val="375F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13232" y="4974336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Reward + next state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974336"/>
            <a:ext cx="2468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env.step(action)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60720" y="4974336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reward_total, next_obs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32520" y="4974336"/>
            <a:ext cx="2514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print reward components + next-state error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67512" y="5248655"/>
            <a:ext cx="10808208" cy="0"/>
          </a:xfrm>
          <a:prstGeom prst="line">
            <a:avLst/>
          </a:prstGeom>
          <a:ln w="8890">
            <a:solidFill>
              <a:srgbClr val="375F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13232" y="5285231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TD target / advantage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71800" y="5285231"/>
            <a:ext cx="2468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GAE or td_target - value_t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5285231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td_target, advantage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32520" y="5285231"/>
            <a:ext cx="2514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print V(sₜ), V(sₜ₊₁), advantage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7512" y="5559552"/>
            <a:ext cx="10808208" cy="0"/>
          </a:xfrm>
          <a:prstGeom prst="line">
            <a:avLst/>
          </a:prstGeom>
          <a:ln w="8890">
            <a:solidFill>
              <a:srgbClr val="375F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13232" y="5596128"/>
            <a:ext cx="1920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PPO losses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71800" y="5596128"/>
            <a:ext cx="24688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ppo_policy_loss() / value_loss()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60720" y="5596128"/>
            <a:ext cx="2651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actor_loss, critic_loss, entropy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32520" y="5596128"/>
            <a:ext cx="2514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10" b="0">
                <a:solidFill>
                  <a:srgbClr val="F5F7FA"/>
                </a:solidFill>
                <a:latin typeface="Aptos"/>
              </a:rPr>
              <a:t>print loss values and update stats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0040" y="6510528"/>
            <a:ext cx="11521440" cy="21945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6510528"/>
            <a:ext cx="11064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C6E6F5"/>
                </a:solidFill>
                <a:latin typeface="Aptos"/>
              </a:rPr>
              <a:t>CSCN8020 Final Project • Math → Algorithm → Code → Visible Log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thodology_pipeline_and_rl_comparis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092440" y="201168"/>
            <a:ext cx="3474720" cy="38404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3DD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292608"/>
            <a:ext cx="3200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A"/>
                </a:solidFill>
                <a:latin typeface="Aptos"/>
              </a:rPr>
              <a:t>FINAL TARGET: PPO-style Actor-Critic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6510528"/>
            <a:ext cx="11521440" cy="21945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64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40" b="0">
                <a:solidFill>
                  <a:srgbClr val="C6E6F5"/>
                </a:solidFill>
                <a:latin typeface="Aptos"/>
              </a:rPr>
              <a:t>Reuse from Assignment 3: environment, seeding, evaluation, checkpointing, plotting, and rendering  •  Add: Actor, Critic, rollout buffer, GAE, PPO clipping, continuous action scaling, richer logging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164592"/>
            <a:ext cx="2697480" cy="31089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205740"/>
            <a:ext cx="258775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00DFFF"/>
                </a:solidFill>
                <a:latin typeface="Aptos"/>
              </a:rPr>
              <a:t>ROADMAP • DELIVERABLES •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5F7FA"/>
                </a:solidFill>
                <a:latin typeface="Aptos"/>
              </a:rPr>
              <a:t>Implementation Roadmap and Team Execution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9601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C6E6F5"/>
                </a:solidFill>
                <a:latin typeface="Aptos"/>
              </a:rPr>
              <a:t>A disciplined plan from asset verification to a reproducible PPO result.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9768" y="1207008"/>
            <a:ext cx="2221992" cy="0"/>
          </a:xfrm>
          <a:prstGeom prst="line">
            <a:avLst/>
          </a:prstGeom>
          <a:ln w="1778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" y="1481328"/>
            <a:ext cx="5623560" cy="484632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6420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00DFFF"/>
                </a:solidFill>
                <a:latin typeface="Aptos"/>
              </a:rPr>
              <a:t>Phase-by-phase roadmap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1993392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975104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0. Model audit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1975104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verify the real three-digit hand, joint names, limits, and target poses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" y="2304288"/>
            <a:ext cx="0" cy="329184"/>
          </a:xfrm>
          <a:prstGeom prst="line">
            <a:avLst/>
          </a:prstGeom>
          <a:ln w="1651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31520" y="2651760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633472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1. Environment migration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633472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adapt the Assignment 3 environment to wrist + hand control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6968" y="2962656"/>
            <a:ext cx="0" cy="329184"/>
          </a:xfrm>
          <a:prstGeom prst="line">
            <a:avLst/>
          </a:prstGeom>
          <a:ln w="1651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" y="3310128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291840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2. PPO skeleton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3291840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implement Actor, Critic, rollout buffer, GAE, and PPO updates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" y="3621024"/>
            <a:ext cx="0" cy="329184"/>
          </a:xfrm>
          <a:prstGeom prst="line">
            <a:avLst/>
          </a:prstGeom>
          <a:ln w="1651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31520" y="3968496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950208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3. Logging + math mapping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3950208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print and store state, actions, values, targets, advantages, and losses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6968" y="4279392"/>
            <a:ext cx="0" cy="329184"/>
          </a:xfrm>
          <a:prstGeom prst="line">
            <a:avLst/>
          </a:prstGeom>
          <a:ln w="1651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31520" y="4626864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4. Gesture-by-gesture training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78608" y="4608576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debug each gesture before moving to one shared policy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968" y="4937760"/>
            <a:ext cx="0" cy="329184"/>
          </a:xfrm>
          <a:prstGeom prst="line">
            <a:avLst/>
          </a:prstGeom>
          <a:ln w="16510">
            <a:solidFill>
              <a:srgbClr val="00D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31520" y="5285231"/>
            <a:ext cx="310896" cy="310896"/>
          </a:xfrm>
          <a:prstGeom prst="ellipse">
            <a:avLst/>
          </a:prstGeom>
          <a:solidFill>
            <a:srgbClr val="00DFFF"/>
          </a:solidFill>
          <a:ln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5266944"/>
            <a:ext cx="1508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10" b="1">
                <a:solidFill>
                  <a:srgbClr val="F5F7FA"/>
                </a:solidFill>
                <a:latin typeface="Aptos"/>
              </a:rPr>
              <a:t>5. Unified policy + 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8608" y="5266944"/>
            <a:ext cx="3127248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C6E6F5"/>
                </a:solidFill>
                <a:latin typeface="Aptos"/>
              </a:rPr>
              <a:t>train on all three gestures and report success, smoothness, stability, and safety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55080" y="1481328"/>
            <a:ext cx="5394960" cy="205740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1664208"/>
            <a:ext cx="4114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00DFFF"/>
                </a:solidFill>
                <a:latin typeface="Aptos"/>
              </a:rPr>
              <a:t>Minimum viable deliverables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1920240"/>
            <a:ext cx="47548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30">
                <a:solidFill>
                  <a:srgbClr val="F5F7FA"/>
                </a:solidFill>
                <a:latin typeface="Aptos"/>
              </a:rPr>
              <a:t>• one trained PPO / Actor-Critic checkpoint</a:t>
            </a:r>
          </a:p>
          <a:p>
            <a:pPr>
              <a:spcAft>
                <a:spcPts val="600"/>
              </a:spcAft>
            </a:pPr>
            <a:r>
              <a:rPr sz="1230">
                <a:solidFill>
                  <a:srgbClr val="F5F7FA"/>
                </a:solidFill>
                <a:latin typeface="Aptos"/>
              </a:rPr>
              <a:t>• three verified target gesture poses and screenshots</a:t>
            </a:r>
          </a:p>
          <a:p>
            <a:pPr>
              <a:spcAft>
                <a:spcPts val="600"/>
              </a:spcAft>
            </a:pPr>
            <a:r>
              <a:rPr sz="1230">
                <a:solidFill>
                  <a:srgbClr val="F5F7FA"/>
                </a:solidFill>
                <a:latin typeface="Aptos"/>
              </a:rPr>
              <a:t>• step_log.csv, update_log.csv, and episode_log.csv</a:t>
            </a:r>
          </a:p>
          <a:p>
            <a:pPr>
              <a:spcAft>
                <a:spcPts val="600"/>
              </a:spcAft>
            </a:pPr>
            <a:r>
              <a:rPr sz="1230">
                <a:solidFill>
                  <a:srgbClr val="F5F7FA"/>
                </a:solidFill>
                <a:latin typeface="Aptos"/>
              </a:rPr>
              <a:t>• evaluation metrics + rendered demonstration video</a:t>
            </a:r>
          </a:p>
          <a:p>
            <a:pPr>
              <a:spcAft>
                <a:spcPts val="600"/>
              </a:spcAft>
            </a:pPr>
            <a:r>
              <a:rPr sz="1230">
                <a:solidFill>
                  <a:srgbClr val="F5F7FA"/>
                </a:solidFill>
                <a:latin typeface="Aptos"/>
              </a:rPr>
              <a:t>• README, reproducible commands, and final report evidence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3730752"/>
            <a:ext cx="2560320" cy="210312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65392" y="3931920"/>
            <a:ext cx="2103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FFF"/>
                </a:solidFill>
                <a:latin typeface="Aptos"/>
              </a:rPr>
              <a:t>Team roles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4206240"/>
            <a:ext cx="2148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Emmanuel — math mapping, logs, presentation integration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Liggia / Chao — environment + asset audit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Cemil — PPO implementation + tuning support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20" y="3730752"/>
            <a:ext cx="2560320" cy="210312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00032" y="393192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DFFF"/>
                </a:solidFill>
                <a:latin typeface="Aptos"/>
              </a:rPr>
              <a:t>Success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420624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per-gesture success rate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final pose + orientation error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hold stability and smoothness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joint-limit / safety violations</a:t>
            </a:r>
          </a:p>
          <a:p>
            <a:pPr>
              <a:spcAft>
                <a:spcPts val="600"/>
              </a:spcAft>
            </a:pPr>
            <a:r>
              <a:rPr sz="1090">
                <a:solidFill>
                  <a:srgbClr val="F5F7FA"/>
                </a:solidFill>
                <a:latin typeface="Aptos"/>
              </a:rPr>
              <a:t>• wall-clock training time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0040" y="6510528"/>
            <a:ext cx="11521440" cy="21945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6510528"/>
            <a:ext cx="11064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C6E6F5"/>
                </a:solidFill>
                <a:latin typeface="Aptos"/>
              </a:rPr>
              <a:t>CSCN8020 Final Project • Roadmap, deliverables, and team execution 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bot_gesture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183879" y="201168"/>
            <a:ext cx="3383280" cy="384048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3DD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21040" y="292608"/>
            <a:ext cx="3108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F5F7FA"/>
                </a:solidFill>
                <a:latin typeface="Aptos"/>
              </a:rPr>
              <a:t>VISUAL TARGET GESTURE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4462272"/>
            <a:ext cx="3657600" cy="1097280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18120" y="4590288"/>
            <a:ext cx="32918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40" b="1">
                <a:solidFill>
                  <a:srgbClr val="00DFFF"/>
                </a:solidFill>
                <a:latin typeface="Aptos"/>
              </a:rPr>
              <a:t>Animated motion reference (plays in slideshow mode)</a:t>
            </a:r>
          </a:p>
        </p:txBody>
      </p:sp>
      <p:pic>
        <p:nvPicPr>
          <p:cNvPr id="7" name="Picture 6" descr="Unitree_G1_Proposed_Hand_Movement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892040"/>
            <a:ext cx="283464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20040" y="6510528"/>
            <a:ext cx="11521440" cy="219456"/>
          </a:xfrm>
          <a:prstGeom prst="roundRect">
            <a:avLst/>
          </a:prstGeom>
          <a:solidFill>
            <a:srgbClr val="051024"/>
          </a:solidFill>
          <a:ln w="13970">
            <a:solidFill>
              <a:srgbClr val="00D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11064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C6E6F5"/>
                </a:solidFill>
                <a:latin typeface="Aptos"/>
              </a:rPr>
              <a:t>CSCN8020 Final Project • Proposed gesture sequence: Thumbs Up → Open/Stop → Thumbs 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