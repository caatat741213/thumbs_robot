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70" autoAdjust="0"/>
    <p:restoredTop sz="94660"/>
  </p:normalViewPr>
  <p:slideViewPr>
    <p:cSldViewPr snapToGrid="0" snapToObjects="1">
      <p:cViewPr>
        <p:scale>
          <a:sx n="125" d="100"/>
          <a:sy n="125" d="100"/>
        </p:scale>
        <p:origin x="40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ree_g1_gesture_learning_propo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" y="6053328"/>
            <a:ext cx="3749039" cy="310896"/>
          </a:xfrm>
          <a:prstGeom prst="roundRect">
            <a:avLst/>
          </a:prstGeom>
          <a:solidFill>
            <a:srgbClr val="051024"/>
          </a:solidFill>
          <a:ln w="13970">
            <a:solidFill>
              <a:srgbClr val="00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144768"/>
            <a:ext cx="35204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C6E6F5"/>
                </a:solidFill>
                <a:latin typeface="Aptos"/>
              </a:rPr>
              <a:t>Team: Emmanuel • Liggia • Cemil • Chao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164592"/>
            <a:ext cx="2743200" cy="310896"/>
          </a:xfrm>
          <a:prstGeom prst="roundRect">
            <a:avLst/>
          </a:prstGeom>
          <a:solidFill>
            <a:srgbClr val="051024"/>
          </a:solidFill>
          <a:ln w="13970">
            <a:solidFill>
              <a:srgbClr val="00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4904" y="205740"/>
            <a:ext cx="2633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DFFF"/>
                </a:solidFill>
                <a:latin typeface="Aptos"/>
              </a:rPr>
              <a:t>SLIDE 2 — MATH / ALGORITHM /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5F7FA"/>
                </a:solidFill>
                <a:latin typeface="Aptos"/>
              </a:rPr>
              <a:t>Math → Algorithm → Code Mapping for PPO / Actor-Critic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9601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C6E6F5"/>
                </a:solidFill>
                <a:latin typeface="Aptos"/>
              </a:rPr>
              <a:t>The exact bridge David asked us to show during the next presentation.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" y="1207008"/>
            <a:ext cx="2221992" cy="0"/>
          </a:xfrm>
          <a:prstGeom prst="line">
            <a:avLst/>
          </a:prstGeom>
          <a:ln w="17780">
            <a:solidFill>
              <a:srgbClr val="00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463040"/>
            <a:ext cx="2743200" cy="1965960"/>
          </a:xfrm>
          <a:prstGeom prst="roundRect">
            <a:avLst/>
          </a:prstGeom>
          <a:solidFill>
            <a:srgbClr val="051024"/>
          </a:solidFill>
          <a:ln w="13970">
            <a:solidFill>
              <a:srgbClr val="00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627632"/>
            <a:ext cx="2331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0DFFF"/>
                </a:solidFill>
                <a:latin typeface="Aptos"/>
              </a:rPr>
              <a:t>Core equations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38528"/>
            <a:ext cx="2331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F5F7FA"/>
                </a:solidFill>
                <a:latin typeface="Aptos"/>
              </a:rPr>
              <a:t>sₜ = [qₜ, q̇ₜ, </a:t>
            </a:r>
            <a:r>
              <a:rPr sz="1300" b="0" dirty="0" err="1">
                <a:solidFill>
                  <a:srgbClr val="F5F7FA"/>
                </a:solidFill>
                <a:latin typeface="Aptos"/>
              </a:rPr>
              <a:t>q_target</a:t>
            </a:r>
            <a:r>
              <a:rPr sz="1300" b="0" dirty="0">
                <a:solidFill>
                  <a:srgbClr val="F5F7FA"/>
                </a:solidFill>
                <a:latin typeface="Aptos"/>
              </a:rPr>
              <a:t>(g),
</a:t>
            </a:r>
            <a:r>
              <a:rPr sz="1300" b="0" dirty="0" err="1">
                <a:solidFill>
                  <a:srgbClr val="F5F7FA"/>
                </a:solidFill>
                <a:latin typeface="Aptos"/>
              </a:rPr>
              <a:t>q_target</a:t>
            </a:r>
            <a:r>
              <a:rPr sz="1300" b="0" dirty="0">
                <a:solidFill>
                  <a:srgbClr val="F5F7FA"/>
                </a:solidFill>
                <a:latin typeface="Aptos"/>
              </a:rPr>
              <a:t>(g)-qₜ, </a:t>
            </a:r>
            <a:r>
              <a:rPr sz="1300" b="0" dirty="0" err="1">
                <a:solidFill>
                  <a:srgbClr val="F5F7FA"/>
                </a:solidFill>
                <a:latin typeface="Aptos"/>
              </a:rPr>
              <a:t>one_hot</a:t>
            </a:r>
            <a:r>
              <a:rPr sz="1300" b="0" dirty="0">
                <a:solidFill>
                  <a:srgbClr val="F5F7FA"/>
                </a:solidFill>
                <a:latin typeface="Aptos"/>
              </a:rPr>
              <a:t>(g), aₜ₋₁]
yₜ = rₜ + γ(1-dₜ)</a:t>
            </a:r>
            <a:r>
              <a:rPr sz="1300" b="0" dirty="0" err="1">
                <a:solidFill>
                  <a:srgbClr val="F5F7FA"/>
                </a:solidFill>
                <a:latin typeface="Aptos"/>
              </a:rPr>
              <a:t>Vϕ</a:t>
            </a:r>
            <a:r>
              <a:rPr sz="1300" b="0" dirty="0">
                <a:solidFill>
                  <a:srgbClr val="F5F7FA"/>
                </a:solidFill>
                <a:latin typeface="Aptos"/>
              </a:rPr>
              <a:t>(sₜ₊₁)
Âₜ = GAE(δₜ, γ, λ)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72768"/>
            <a:ext cx="1216152" cy="1207008"/>
          </a:xfrm>
          <a:prstGeom prst="roundRect">
            <a:avLst/>
          </a:prstGeom>
          <a:solidFill>
            <a:srgbClr val="051024"/>
          </a:solidFill>
          <a:ln w="13970">
            <a:solidFill>
              <a:srgbClr val="00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83864" y="1664208"/>
            <a:ext cx="11064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0DFFF"/>
                </a:solidFill>
                <a:latin typeface="Aptos"/>
              </a:rPr>
              <a:t>Current
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2011680"/>
            <a:ext cx="11064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F5F7FA"/>
                </a:solidFill>
                <a:latin typeface="Aptos"/>
              </a:rPr>
              <a:t>sₜ / obs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331720"/>
            <a:ext cx="110642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C6E6F5"/>
                </a:solidFill>
                <a:latin typeface="Aptos"/>
              </a:rPr>
              <a:t>state vector +
target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45152" y="2176272"/>
            <a:ext cx="137160" cy="0"/>
          </a:xfrm>
          <a:prstGeom prst="line">
            <a:avLst/>
          </a:prstGeom>
          <a:ln w="25400">
            <a:solidFill>
              <a:srgbClr val="00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782312" y="1572768"/>
            <a:ext cx="1216152" cy="1207008"/>
          </a:xfrm>
          <a:prstGeom prst="roundRect">
            <a:avLst/>
          </a:prstGeom>
          <a:solidFill>
            <a:srgbClr val="051024"/>
          </a:solidFill>
          <a:ln w="13970">
            <a:solidFill>
              <a:srgbClr val="00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37176" y="1664208"/>
            <a:ext cx="11064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0DFFF"/>
                </a:solidFill>
                <a:latin typeface="Aptos"/>
              </a:rPr>
              <a:t>Actor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7176" y="2011680"/>
            <a:ext cx="11064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F5F7FA"/>
                </a:solidFill>
                <a:latin typeface="Aptos"/>
              </a:rPr>
              <a:t>πθ(a|s)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2331720"/>
            <a:ext cx="110642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C6E6F5"/>
                </a:solidFill>
                <a:latin typeface="Aptos"/>
              </a:rPr>
              <a:t>mu, std,
action_dist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8464" y="2176272"/>
            <a:ext cx="137160" cy="0"/>
          </a:xfrm>
          <a:prstGeom prst="line">
            <a:avLst/>
          </a:prstGeom>
          <a:ln w="25400">
            <a:solidFill>
              <a:srgbClr val="00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35624" y="1572768"/>
            <a:ext cx="1216152" cy="1207008"/>
          </a:xfrm>
          <a:prstGeom prst="roundRect">
            <a:avLst/>
          </a:prstGeom>
          <a:solidFill>
            <a:srgbClr val="051024"/>
          </a:solidFill>
          <a:ln w="13970">
            <a:solidFill>
              <a:srgbClr val="00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90488" y="1664208"/>
            <a:ext cx="11064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0DFFF"/>
                </a:solidFill>
                <a:latin typeface="Aptos"/>
              </a:rPr>
              <a:t>Selected
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2011680"/>
            <a:ext cx="11064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F5F7FA"/>
                </a:solidFill>
                <a:latin typeface="Aptos"/>
              </a:rPr>
              <a:t>aₜ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0488" y="2331720"/>
            <a:ext cx="110642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C6E6F5"/>
                </a:solidFill>
                <a:latin typeface="Aptos"/>
              </a:rPr>
              <a:t>sample → scale /
clip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51775" y="2176272"/>
            <a:ext cx="137161" cy="0"/>
          </a:xfrm>
          <a:prstGeom prst="line">
            <a:avLst/>
          </a:prstGeom>
          <a:ln w="25400">
            <a:solidFill>
              <a:srgbClr val="00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88936" y="1572768"/>
            <a:ext cx="1216152" cy="1207008"/>
          </a:xfrm>
          <a:prstGeom prst="roundRect">
            <a:avLst/>
          </a:prstGeom>
          <a:solidFill>
            <a:srgbClr val="051024"/>
          </a:solidFill>
          <a:ln w="13970">
            <a:solidFill>
              <a:srgbClr val="00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43800" y="1664208"/>
            <a:ext cx="11064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0DFFF"/>
                </a:solidFill>
                <a:latin typeface="Aptos"/>
              </a:rPr>
              <a:t>Environmen
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2011680"/>
            <a:ext cx="11064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F5F7FA"/>
                </a:solidFill>
                <a:latin typeface="Aptos"/>
              </a:rPr>
              <a:t>rₜ, sₜ₊₁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2331720"/>
            <a:ext cx="110642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C6E6F5"/>
                </a:solidFill>
                <a:latin typeface="Aptos"/>
              </a:rPr>
              <a:t>reward +
next_state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05088" y="2176272"/>
            <a:ext cx="137160" cy="0"/>
          </a:xfrm>
          <a:prstGeom prst="line">
            <a:avLst/>
          </a:prstGeom>
          <a:ln w="25400">
            <a:solidFill>
              <a:srgbClr val="00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842248" y="1572768"/>
            <a:ext cx="1216152" cy="1207008"/>
          </a:xfrm>
          <a:prstGeom prst="roundRect">
            <a:avLst/>
          </a:prstGeom>
          <a:solidFill>
            <a:srgbClr val="051024"/>
          </a:solidFill>
          <a:ln w="13970">
            <a:solidFill>
              <a:srgbClr val="00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97112" y="1664208"/>
            <a:ext cx="11064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0DFFF"/>
                </a:solidFill>
                <a:latin typeface="Aptos"/>
              </a:rPr>
              <a:t>Critic /
target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97112" y="2011680"/>
            <a:ext cx="11064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F5F7FA"/>
                </a:solidFill>
                <a:latin typeface="Aptos"/>
              </a:rPr>
              <a:t>Vϕ, yₜ, Âₜ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7112" y="2331720"/>
            <a:ext cx="110642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C6E6F5"/>
                </a:solidFill>
                <a:latin typeface="Aptos"/>
              </a:rPr>
              <a:t>value, td_target,
adv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058400" y="2176272"/>
            <a:ext cx="137160" cy="0"/>
          </a:xfrm>
          <a:prstGeom prst="line">
            <a:avLst/>
          </a:prstGeom>
          <a:ln w="25400">
            <a:solidFill>
              <a:srgbClr val="00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195560" y="1572768"/>
            <a:ext cx="1216152" cy="1207008"/>
          </a:xfrm>
          <a:prstGeom prst="roundRect">
            <a:avLst/>
          </a:prstGeom>
          <a:solidFill>
            <a:srgbClr val="051024"/>
          </a:solidFill>
          <a:ln w="13970">
            <a:solidFill>
              <a:srgbClr val="00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50424" y="1664208"/>
            <a:ext cx="11064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0DFFF"/>
                </a:solidFill>
                <a:latin typeface="Aptos"/>
              </a:rPr>
              <a:t>PPO update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0424" y="2011680"/>
            <a:ext cx="11064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F5F7FA"/>
                </a:solidFill>
                <a:latin typeface="Aptos"/>
              </a:rPr>
              <a:t>losses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50424" y="2331720"/>
            <a:ext cx="110642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C6E6F5"/>
                </a:solidFill>
                <a:latin typeface="Aptos"/>
              </a:rPr>
              <a:t>actor / critic /
entropy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79" y="2880360"/>
            <a:ext cx="3749039" cy="438912"/>
          </a:xfrm>
          <a:prstGeom prst="roundRect">
            <a:avLst/>
          </a:prstGeom>
          <a:solidFill>
            <a:srgbClr val="051024"/>
          </a:solidFill>
          <a:ln w="13970">
            <a:solidFill>
              <a:srgbClr val="3DD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38160" y="2971800"/>
            <a:ext cx="3383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30" b="0">
                <a:solidFill>
                  <a:srgbClr val="F5F7FA"/>
                </a:solidFill>
                <a:latin typeface="Aptos"/>
              </a:rPr>
              <a:t>Why PPO here? Continuous actions fit coordinated wrist-and-finger control better than discrete DQN actions.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611880"/>
            <a:ext cx="11292840" cy="2578608"/>
          </a:xfrm>
          <a:prstGeom prst="roundRect">
            <a:avLst/>
          </a:prstGeom>
          <a:solidFill>
            <a:srgbClr val="051024"/>
          </a:solidFill>
          <a:ln w="13970">
            <a:solidFill>
              <a:srgbClr val="00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5800" y="3767328"/>
            <a:ext cx="4480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DFFF"/>
                </a:solidFill>
                <a:latin typeface="Aptos"/>
              </a:rPr>
              <a:t>What we will visibly show in the presentation and logs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4041648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1">
                <a:solidFill>
                  <a:srgbClr val="00DFFF"/>
                </a:solidFill>
                <a:latin typeface="Aptos"/>
              </a:rPr>
              <a:t>Math concept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1800" y="4041648"/>
            <a:ext cx="2468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1">
                <a:solidFill>
                  <a:srgbClr val="00DFFF"/>
                </a:solidFill>
                <a:latin typeface="Aptos"/>
              </a:rPr>
              <a:t>Algorithm step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4041648"/>
            <a:ext cx="2651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1">
                <a:solidFill>
                  <a:srgbClr val="00DFFF"/>
                </a:solidFill>
                <a:latin typeface="Aptos"/>
              </a:rPr>
              <a:t>Code variable / function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4041648"/>
            <a:ext cx="2514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1">
                <a:solidFill>
                  <a:srgbClr val="00DFFF"/>
                </a:solidFill>
                <a:latin typeface="Aptos"/>
              </a:rPr>
              <a:t>Visible evidence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" y="4352544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F5F7FA"/>
                </a:solidFill>
                <a:latin typeface="Aptos"/>
              </a:rPr>
              <a:t>Current state sₜ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71800" y="4352544"/>
            <a:ext cx="2468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F5F7FA"/>
                </a:solidFill>
                <a:latin typeface="Aptos"/>
              </a:rPr>
              <a:t>env._get_obs()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0" y="4352544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F5F7FA"/>
                </a:solidFill>
                <a:latin typeface="Aptos"/>
              </a:rPr>
              <a:t>obs / state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4352544"/>
            <a:ext cx="2514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F5F7FA"/>
                </a:solidFill>
                <a:latin typeface="Aptos"/>
              </a:rPr>
              <a:t>print normalized state + target ID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67512" y="4626864"/>
            <a:ext cx="10808208" cy="0"/>
          </a:xfrm>
          <a:prstGeom prst="line">
            <a:avLst/>
          </a:prstGeom>
          <a:ln w="8890">
            <a:solidFill>
              <a:srgbClr val="375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13232" y="4663440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F5F7FA"/>
                </a:solidFill>
                <a:latin typeface="Aptos"/>
              </a:rPr>
              <a:t>Actor policy πθ(a|s)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71800" y="4663440"/>
            <a:ext cx="2468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F5F7FA"/>
                </a:solidFill>
                <a:latin typeface="Aptos"/>
              </a:rPr>
              <a:t>actor(obs)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0" y="4663440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F5F7FA"/>
                </a:solidFill>
                <a:latin typeface="Aptos"/>
              </a:rPr>
              <a:t>action_dist, mu, std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4663440"/>
            <a:ext cx="2514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F5F7FA"/>
                </a:solidFill>
                <a:latin typeface="Aptos"/>
              </a:rPr>
              <a:t>print mean / std / sampled action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67512" y="4937759"/>
            <a:ext cx="10808208" cy="0"/>
          </a:xfrm>
          <a:prstGeom prst="line">
            <a:avLst/>
          </a:prstGeom>
          <a:ln w="8890">
            <a:solidFill>
              <a:srgbClr val="375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13232" y="4974336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F5F7FA"/>
                </a:solidFill>
                <a:latin typeface="Aptos"/>
              </a:rPr>
              <a:t>Reward + next state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71800" y="4974336"/>
            <a:ext cx="2468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F5F7FA"/>
                </a:solidFill>
                <a:latin typeface="Aptos"/>
              </a:rPr>
              <a:t>env.step(action)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60720" y="4974336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F5F7FA"/>
                </a:solidFill>
                <a:latin typeface="Aptos"/>
              </a:rPr>
              <a:t>reward_total, next_obs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32520" y="4974336"/>
            <a:ext cx="2514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F5F7FA"/>
                </a:solidFill>
                <a:latin typeface="Aptos"/>
              </a:rPr>
              <a:t>print reward components + next-state error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67512" y="5248655"/>
            <a:ext cx="10808208" cy="0"/>
          </a:xfrm>
          <a:prstGeom prst="line">
            <a:avLst/>
          </a:prstGeom>
          <a:ln w="8890">
            <a:solidFill>
              <a:srgbClr val="375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13232" y="5285231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F5F7FA"/>
                </a:solidFill>
                <a:latin typeface="Aptos"/>
              </a:rPr>
              <a:t>TD target / advantage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71800" y="5285231"/>
            <a:ext cx="2468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F5F7FA"/>
                </a:solidFill>
                <a:latin typeface="Aptos"/>
              </a:rPr>
              <a:t>GAE or td_target - value_t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60720" y="5285231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F5F7FA"/>
                </a:solidFill>
                <a:latin typeface="Aptos"/>
              </a:rPr>
              <a:t>td_target, advantage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32520" y="5285231"/>
            <a:ext cx="2514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F5F7FA"/>
                </a:solidFill>
                <a:latin typeface="Aptos"/>
              </a:rPr>
              <a:t>print V(sₜ), V(sₜ₊₁), advantage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67512" y="5559552"/>
            <a:ext cx="10808208" cy="0"/>
          </a:xfrm>
          <a:prstGeom prst="line">
            <a:avLst/>
          </a:prstGeom>
          <a:ln w="8890">
            <a:solidFill>
              <a:srgbClr val="375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13232" y="5596128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F5F7FA"/>
                </a:solidFill>
                <a:latin typeface="Aptos"/>
              </a:rPr>
              <a:t>PPO losses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71800" y="5596128"/>
            <a:ext cx="2468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F5F7FA"/>
                </a:solidFill>
                <a:latin typeface="Aptos"/>
              </a:rPr>
              <a:t>ppo_policy_loss() / value_loss()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60720" y="5596128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F5F7FA"/>
                </a:solidFill>
                <a:latin typeface="Aptos"/>
              </a:rPr>
              <a:t>actor_loss, critic_loss, entropy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32520" y="5596128"/>
            <a:ext cx="2514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F5F7FA"/>
                </a:solidFill>
                <a:latin typeface="Aptos"/>
              </a:rPr>
              <a:t>print loss values and update stats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20040" y="6510528"/>
            <a:ext cx="11521440" cy="219456"/>
          </a:xfrm>
          <a:prstGeom prst="roundRect">
            <a:avLst/>
          </a:prstGeom>
          <a:solidFill>
            <a:srgbClr val="051024"/>
          </a:solidFill>
          <a:ln w="13970">
            <a:solidFill>
              <a:srgbClr val="00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48640" y="6510528"/>
            <a:ext cx="11064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C6E6F5"/>
                </a:solidFill>
                <a:latin typeface="Aptos"/>
              </a:rPr>
              <a:t>CSCN8020 Final Project • Math → Algorithm → Code → Visible Log Evidence</a:t>
            </a:r>
          </a:p>
        </p:txBody>
      </p:sp>
      <p:pic>
        <p:nvPicPr>
          <p:cNvPr id="74" name="圖片 73">
            <a:extLst>
              <a:ext uri="{FF2B5EF4-FFF2-40B4-BE49-F238E27FC236}">
                <a16:creationId xmlns:a16="http://schemas.microsoft.com/office/drawing/2014/main" id="{EA2F5372-0D1F-489D-A70F-434979710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" y="13401"/>
            <a:ext cx="12192000" cy="68545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thodology_pipeline_and_rl_comparison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092440" y="201168"/>
            <a:ext cx="3474720" cy="384048"/>
          </a:xfrm>
          <a:prstGeom prst="roundRect">
            <a:avLst/>
          </a:prstGeom>
          <a:solidFill>
            <a:srgbClr val="051024"/>
          </a:solidFill>
          <a:ln w="13970">
            <a:solidFill>
              <a:srgbClr val="3DD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292608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5F7FA"/>
                </a:solidFill>
                <a:latin typeface="Aptos"/>
              </a:rPr>
              <a:t>FINAL TARGET: PPO-style Actor-Critic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164592"/>
            <a:ext cx="2697480" cy="310896"/>
          </a:xfrm>
          <a:prstGeom prst="roundRect">
            <a:avLst/>
          </a:prstGeom>
          <a:solidFill>
            <a:srgbClr val="051024"/>
          </a:solidFill>
          <a:ln w="13970">
            <a:solidFill>
              <a:srgbClr val="00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4904" y="205740"/>
            <a:ext cx="25877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DFFF"/>
                </a:solidFill>
                <a:latin typeface="Aptos"/>
              </a:rPr>
              <a:t>ROADMAP • DELIVERABLES •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5F7FA"/>
                </a:solidFill>
                <a:latin typeface="Aptos"/>
              </a:rPr>
              <a:t>Implementation Roadmap and Team Execution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9601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C6E6F5"/>
                </a:solidFill>
                <a:latin typeface="Aptos"/>
              </a:rPr>
              <a:t>A disciplined plan from asset verification to a reproducible PPO result.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" y="1207008"/>
            <a:ext cx="2221992" cy="0"/>
          </a:xfrm>
          <a:prstGeom prst="line">
            <a:avLst/>
          </a:prstGeom>
          <a:ln w="17780">
            <a:solidFill>
              <a:srgbClr val="00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481328"/>
            <a:ext cx="5623560" cy="4846320"/>
          </a:xfrm>
          <a:prstGeom prst="roundRect">
            <a:avLst/>
          </a:prstGeom>
          <a:solidFill>
            <a:srgbClr val="051024"/>
          </a:solidFill>
          <a:ln w="13970">
            <a:solidFill>
              <a:srgbClr val="00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1664208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0DFFF"/>
                </a:solidFill>
                <a:latin typeface="Aptos"/>
              </a:rPr>
              <a:t>Phase-by-phase roadmap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993392"/>
            <a:ext cx="310896" cy="310896"/>
          </a:xfrm>
          <a:prstGeom prst="ellipse">
            <a:avLst/>
          </a:prstGeom>
          <a:solidFill>
            <a:srgbClr val="00DFFF"/>
          </a:solidFill>
          <a:ln>
            <a:solidFill>
              <a:srgbClr val="00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975104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10" b="1">
                <a:solidFill>
                  <a:srgbClr val="F5F7FA"/>
                </a:solidFill>
                <a:latin typeface="Aptos"/>
              </a:rPr>
              <a:t>0. Model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1975104"/>
            <a:ext cx="3127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6E6F5"/>
                </a:solidFill>
                <a:latin typeface="Aptos"/>
              </a:rPr>
              <a:t>verify the real three-digit hand, joint names, limits, and target poses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6968" y="2304288"/>
            <a:ext cx="0" cy="329184"/>
          </a:xfrm>
          <a:prstGeom prst="line">
            <a:avLst/>
          </a:prstGeom>
          <a:ln w="16510">
            <a:solidFill>
              <a:srgbClr val="00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31520" y="2651760"/>
            <a:ext cx="310896" cy="310896"/>
          </a:xfrm>
          <a:prstGeom prst="ellipse">
            <a:avLst/>
          </a:prstGeom>
          <a:solidFill>
            <a:srgbClr val="00DFFF"/>
          </a:solidFill>
          <a:ln>
            <a:solidFill>
              <a:srgbClr val="00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" y="2633472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10" b="1">
                <a:solidFill>
                  <a:srgbClr val="F5F7FA"/>
                </a:solidFill>
                <a:latin typeface="Aptos"/>
              </a:rPr>
              <a:t>1. Environment migration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8608" y="2633472"/>
            <a:ext cx="3127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6E6F5"/>
                </a:solidFill>
                <a:latin typeface="Aptos"/>
              </a:rPr>
              <a:t>adapt the Assignment 3 environment to wrist + hand control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6968" y="2962656"/>
            <a:ext cx="0" cy="329184"/>
          </a:xfrm>
          <a:prstGeom prst="line">
            <a:avLst/>
          </a:prstGeom>
          <a:ln w="16510">
            <a:solidFill>
              <a:srgbClr val="00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31520" y="3310128"/>
            <a:ext cx="310896" cy="310896"/>
          </a:xfrm>
          <a:prstGeom prst="ellipse">
            <a:avLst/>
          </a:prstGeom>
          <a:solidFill>
            <a:srgbClr val="00DFFF"/>
          </a:solidFill>
          <a:ln>
            <a:solidFill>
              <a:srgbClr val="00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3291840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10" b="1">
                <a:solidFill>
                  <a:srgbClr val="F5F7FA"/>
                </a:solidFill>
                <a:latin typeface="Aptos"/>
              </a:rPr>
              <a:t>2. PPO skeleton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8608" y="3291840"/>
            <a:ext cx="3127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6E6F5"/>
                </a:solidFill>
                <a:latin typeface="Aptos"/>
              </a:rPr>
              <a:t>implement Actor, Critic, rollout buffer, GAE, and PPO updates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6968" y="3621024"/>
            <a:ext cx="0" cy="329184"/>
          </a:xfrm>
          <a:prstGeom prst="line">
            <a:avLst/>
          </a:prstGeom>
          <a:ln w="16510">
            <a:solidFill>
              <a:srgbClr val="00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31520" y="3968496"/>
            <a:ext cx="310896" cy="310896"/>
          </a:xfrm>
          <a:prstGeom prst="ellipse">
            <a:avLst/>
          </a:prstGeom>
          <a:solidFill>
            <a:srgbClr val="00DFFF"/>
          </a:solidFill>
          <a:ln>
            <a:solidFill>
              <a:srgbClr val="00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" y="3950208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10" b="1">
                <a:solidFill>
                  <a:srgbClr val="F5F7FA"/>
                </a:solidFill>
                <a:latin typeface="Aptos"/>
              </a:rPr>
              <a:t>3. Logging + math mapping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8608" y="3950208"/>
            <a:ext cx="3127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6E6F5"/>
                </a:solidFill>
                <a:latin typeface="Aptos"/>
              </a:rPr>
              <a:t>print and store state, actions, values, targets, advantages, and losses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6968" y="4279392"/>
            <a:ext cx="0" cy="329184"/>
          </a:xfrm>
          <a:prstGeom prst="line">
            <a:avLst/>
          </a:prstGeom>
          <a:ln w="16510">
            <a:solidFill>
              <a:srgbClr val="00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31520" y="4626864"/>
            <a:ext cx="310896" cy="310896"/>
          </a:xfrm>
          <a:prstGeom prst="ellipse">
            <a:avLst/>
          </a:prstGeom>
          <a:solidFill>
            <a:srgbClr val="00DFFF"/>
          </a:solidFill>
          <a:ln>
            <a:solidFill>
              <a:srgbClr val="00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8992" y="4608576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10" b="1">
                <a:solidFill>
                  <a:srgbClr val="F5F7FA"/>
                </a:solidFill>
                <a:latin typeface="Aptos"/>
              </a:rPr>
              <a:t>4. Gesture-by-gesture 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8608" y="4608576"/>
            <a:ext cx="3127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6E6F5"/>
                </a:solidFill>
                <a:latin typeface="Aptos"/>
              </a:rPr>
              <a:t>debug each gesture before moving to one shared policy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86968" y="4937760"/>
            <a:ext cx="0" cy="329184"/>
          </a:xfrm>
          <a:prstGeom prst="line">
            <a:avLst/>
          </a:prstGeom>
          <a:ln w="16510">
            <a:solidFill>
              <a:srgbClr val="00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31520" y="5285231"/>
            <a:ext cx="310896" cy="310896"/>
          </a:xfrm>
          <a:prstGeom prst="ellipse">
            <a:avLst/>
          </a:prstGeom>
          <a:solidFill>
            <a:srgbClr val="00DFFF"/>
          </a:solidFill>
          <a:ln>
            <a:solidFill>
              <a:srgbClr val="00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78992" y="5266944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10" b="1">
                <a:solidFill>
                  <a:srgbClr val="F5F7FA"/>
                </a:solidFill>
                <a:latin typeface="Aptos"/>
              </a:rPr>
              <a:t>5. Unified policy + evaluation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8608" y="5266944"/>
            <a:ext cx="3127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6E6F5"/>
                </a:solidFill>
                <a:latin typeface="Aptos"/>
              </a:rPr>
              <a:t>train on all three gestures and report success, smoothness, stability, and safety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1481328"/>
            <a:ext cx="5394960" cy="2057400"/>
          </a:xfrm>
          <a:prstGeom prst="roundRect">
            <a:avLst/>
          </a:prstGeom>
          <a:solidFill>
            <a:srgbClr val="051024"/>
          </a:solidFill>
          <a:ln w="13970">
            <a:solidFill>
              <a:srgbClr val="00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0" y="1664208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0DFFF"/>
                </a:solidFill>
                <a:latin typeface="Aptos"/>
              </a:rPr>
              <a:t>Minimum viable deliverables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1920240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30">
                <a:solidFill>
                  <a:srgbClr val="F5F7FA"/>
                </a:solidFill>
                <a:latin typeface="Aptos"/>
              </a:rPr>
              <a:t>• one trained PPO / Actor-Critic checkpoint</a:t>
            </a:r>
          </a:p>
          <a:p>
            <a:pPr>
              <a:spcAft>
                <a:spcPts val="600"/>
              </a:spcAft>
            </a:pPr>
            <a:r>
              <a:rPr sz="1230">
                <a:solidFill>
                  <a:srgbClr val="F5F7FA"/>
                </a:solidFill>
                <a:latin typeface="Aptos"/>
              </a:rPr>
              <a:t>• three verified target gesture poses and screenshots</a:t>
            </a:r>
          </a:p>
          <a:p>
            <a:pPr>
              <a:spcAft>
                <a:spcPts val="600"/>
              </a:spcAft>
            </a:pPr>
            <a:r>
              <a:rPr sz="1230">
                <a:solidFill>
                  <a:srgbClr val="F5F7FA"/>
                </a:solidFill>
                <a:latin typeface="Aptos"/>
              </a:rPr>
              <a:t>• step_log.csv, update_log.csv, and episode_log.csv</a:t>
            </a:r>
          </a:p>
          <a:p>
            <a:pPr>
              <a:spcAft>
                <a:spcPts val="600"/>
              </a:spcAft>
            </a:pPr>
            <a:r>
              <a:rPr sz="1230">
                <a:solidFill>
                  <a:srgbClr val="F5F7FA"/>
                </a:solidFill>
                <a:latin typeface="Aptos"/>
              </a:rPr>
              <a:t>• evaluation metrics + rendered demonstration video</a:t>
            </a:r>
          </a:p>
          <a:p>
            <a:pPr>
              <a:spcAft>
                <a:spcPts val="600"/>
              </a:spcAft>
            </a:pPr>
            <a:r>
              <a:rPr sz="1230">
                <a:solidFill>
                  <a:srgbClr val="F5F7FA"/>
                </a:solidFill>
                <a:latin typeface="Aptos"/>
              </a:rPr>
              <a:t>• README, reproducible commands, and final report evidence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730752"/>
            <a:ext cx="2560320" cy="2103120"/>
          </a:xfrm>
          <a:prstGeom prst="roundRect">
            <a:avLst/>
          </a:prstGeom>
          <a:solidFill>
            <a:srgbClr val="051024"/>
          </a:solidFill>
          <a:ln w="13970">
            <a:solidFill>
              <a:srgbClr val="00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65392" y="3931920"/>
            <a:ext cx="2103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DFFF"/>
                </a:solidFill>
                <a:latin typeface="Aptos"/>
              </a:rPr>
              <a:t>Team roles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392" y="4206240"/>
            <a:ext cx="2148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90">
                <a:solidFill>
                  <a:srgbClr val="F5F7FA"/>
                </a:solidFill>
                <a:latin typeface="Aptos"/>
              </a:rPr>
              <a:t>• Emmanuel — math mapping, logs, presentation integration</a:t>
            </a:r>
          </a:p>
          <a:p>
            <a:pPr>
              <a:spcAft>
                <a:spcPts val="600"/>
              </a:spcAft>
            </a:pPr>
            <a:r>
              <a:rPr sz="1090">
                <a:solidFill>
                  <a:srgbClr val="F5F7FA"/>
                </a:solidFill>
                <a:latin typeface="Aptos"/>
              </a:rPr>
              <a:t>• Liggia / Chao — environment + asset audit</a:t>
            </a:r>
          </a:p>
          <a:p>
            <a:pPr>
              <a:spcAft>
                <a:spcPts val="600"/>
              </a:spcAft>
            </a:pPr>
            <a:r>
              <a:rPr sz="1090">
                <a:solidFill>
                  <a:srgbClr val="F5F7FA"/>
                </a:solidFill>
                <a:latin typeface="Aptos"/>
              </a:rPr>
              <a:t>• Cemil — PPO implementation + tuning support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89720" y="3730752"/>
            <a:ext cx="2560320" cy="2103120"/>
          </a:xfrm>
          <a:prstGeom prst="roundRect">
            <a:avLst/>
          </a:prstGeom>
          <a:solidFill>
            <a:srgbClr val="051024"/>
          </a:solidFill>
          <a:ln w="13970">
            <a:solidFill>
              <a:srgbClr val="00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00032" y="3931920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DFFF"/>
                </a:solidFill>
                <a:latin typeface="Aptos"/>
              </a:rPr>
              <a:t>Success metrics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00032" y="420624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90">
                <a:solidFill>
                  <a:srgbClr val="F5F7FA"/>
                </a:solidFill>
                <a:latin typeface="Aptos"/>
              </a:rPr>
              <a:t>• per-gesture success rate</a:t>
            </a:r>
          </a:p>
          <a:p>
            <a:pPr>
              <a:spcAft>
                <a:spcPts val="600"/>
              </a:spcAft>
            </a:pPr>
            <a:r>
              <a:rPr sz="1090">
                <a:solidFill>
                  <a:srgbClr val="F5F7FA"/>
                </a:solidFill>
                <a:latin typeface="Aptos"/>
              </a:rPr>
              <a:t>• final pose + orientation error</a:t>
            </a:r>
          </a:p>
          <a:p>
            <a:pPr>
              <a:spcAft>
                <a:spcPts val="600"/>
              </a:spcAft>
            </a:pPr>
            <a:r>
              <a:rPr sz="1090">
                <a:solidFill>
                  <a:srgbClr val="F5F7FA"/>
                </a:solidFill>
                <a:latin typeface="Aptos"/>
              </a:rPr>
              <a:t>• hold stability and smoothness</a:t>
            </a:r>
          </a:p>
          <a:p>
            <a:pPr>
              <a:spcAft>
                <a:spcPts val="600"/>
              </a:spcAft>
            </a:pPr>
            <a:r>
              <a:rPr sz="1090">
                <a:solidFill>
                  <a:srgbClr val="F5F7FA"/>
                </a:solidFill>
                <a:latin typeface="Aptos"/>
              </a:rPr>
              <a:t>• joint-limit / safety violations</a:t>
            </a:r>
          </a:p>
          <a:p>
            <a:pPr>
              <a:spcAft>
                <a:spcPts val="600"/>
              </a:spcAft>
            </a:pPr>
            <a:r>
              <a:rPr sz="1090">
                <a:solidFill>
                  <a:srgbClr val="F5F7FA"/>
                </a:solidFill>
                <a:latin typeface="Aptos"/>
              </a:rPr>
              <a:t>• wall-clock training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obot_gesture_story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183879" y="201168"/>
            <a:ext cx="3383280" cy="384048"/>
          </a:xfrm>
          <a:prstGeom prst="roundRect">
            <a:avLst/>
          </a:prstGeom>
          <a:solidFill>
            <a:srgbClr val="051024"/>
          </a:solidFill>
          <a:ln w="13970">
            <a:solidFill>
              <a:srgbClr val="3DD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21040" y="292608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5F7FA"/>
                </a:solidFill>
                <a:latin typeface="Aptos"/>
              </a:rPr>
              <a:t>VISUAL TARGET GESTURE SEQUENCE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4462272"/>
            <a:ext cx="3657600" cy="1097280"/>
          </a:xfrm>
          <a:prstGeom prst="roundRect">
            <a:avLst/>
          </a:prstGeom>
          <a:solidFill>
            <a:srgbClr val="051024"/>
          </a:solidFill>
          <a:ln w="13970">
            <a:solidFill>
              <a:srgbClr val="00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18120" y="4590288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40" b="1">
                <a:solidFill>
                  <a:srgbClr val="00DFFF"/>
                </a:solidFill>
                <a:latin typeface="Aptos"/>
              </a:rPr>
              <a:t>Animated motion reference (plays in slideshow mode)</a:t>
            </a:r>
          </a:p>
        </p:txBody>
      </p:sp>
      <p:pic>
        <p:nvPicPr>
          <p:cNvPr id="7" name="Picture 6" descr="Unitree_G1_Proposed_Hand_Movement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892040"/>
            <a:ext cx="283464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621</Words>
  <Application>Microsoft Office PowerPoint</Application>
  <PresentationFormat>寬螢幕</PresentationFormat>
  <Paragraphs>86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兆中 劉</cp:lastModifiedBy>
  <cp:revision>7</cp:revision>
  <dcterms:created xsi:type="dcterms:W3CDTF">2013-01-27T09:14:16Z</dcterms:created>
  <dcterms:modified xsi:type="dcterms:W3CDTF">2026-08-06T22:46:53Z</dcterms:modified>
  <cp:category/>
</cp:coreProperties>
</file>